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and vision" id="{967e2f44-5f36-056c-0adf-e3f6a3134416}">
          <p14:sldIdLst>
            <p14:sldId id="256"/>
            <p14:sldId id="257"/>
            <p14:sldId id="258"/>
          </p14:sldIdLst>
        </p14:section>
        <p14:section name="Architecture and enforcement" id="{3908eb00-067b-e1aa-80bb-429708a97ded}">
          <p14:sldIdLst>
            <p14:sldId id="259"/>
            <p14:sldId id="260"/>
            <p14:sldId id="261"/>
            <p14:sldId id="262"/>
          </p14:sldIdLst>
        </p14:section>
        <p14:section name="Demo, evaluation and close" id="{e73c8bdc-c69c-aaf6-2ff1-12fafdf1267c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E9EFE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E9EFEC"/>
                </a:solidFill>
                <a:latin typeface="+mn-lt"/>
              </a:rPr>
              <a:t>Attacks contained by category (all 100%)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Attacks contained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9EFE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shell</c:v>
                  </c:pt>
                  <c:pt idx="1">
                    <c:v>path</c:v>
                  </c:pt>
                  <c:pt idx="2">
                    <c:v>ssrf</c:v>
                  </c:pt>
                  <c:pt idx="3">
                    <c:v>cloud</c:v>
                  </c:pt>
                  <c:pt idx="4">
                    <c:v>pii</c:v>
                  </c:pt>
                  <c:pt idx="5">
                    <c:v>credtheft</c:v>
                  </c:pt>
                  <c:pt idx="6">
                    <c:v>exfil</c:v>
                  </c:pt>
                  <c:pt idx="7">
                    <c:v>tamper</c:v>
                  </c:pt>
                  <c:pt idx="8">
                    <c:v>rce</c:v>
                  </c:pt>
                  <c:pt idx="9">
                    <c:v>family</c:v>
                  </c:pt>
                  <c:pt idx="10">
                    <c:v>dlp</c:v>
                  </c:pt>
                  <c:pt idx="11">
                    <c:v>database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44</c:v>
                </c:pt>
                <c:pt idx="1">
                  <c:v>19</c:v>
                </c:pt>
                <c:pt idx="2">
                  <c:v>19</c:v>
                </c:pt>
                <c:pt idx="3">
                  <c:v>14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11</c:v>
                </c:pt>
                <c:pt idx="8">
                  <c:v>10</c:v>
                </c:pt>
                <c:pt idx="9">
                  <c:v>10</c:v>
                </c:pt>
                <c:pt idx="10">
                  <c:v>9</c:v>
                </c:pt>
                <c:pt idx="11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9EFE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58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95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15 seconds. 'We are Provenant. Agents now read your email and hold real tools. We built the thing that sits between the two.' Introduce the three of us by role: P1 problem, P2 architecture, P3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45 seconds. Prompt injection is not a model bug you can patch: any text the agent reads can carry instructions. Three doors: inbox, web/documents, MCP tool results and manifests. Most projects add a smarter prompt or a classifier. That puts the security boundary inside the thing being attacked.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P1. 45 seconds. Walk the story the judges will see live. Emphasise step 2: we do not rely on the model refusing. We assume it obeys. Hand over to P2: 'So how can step 3 be guaranteed?'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30 seconds. The core claim. The engine is deterministic and fails closed: an exception, a bad policy file, or no matching rule all mean DENY. An optional advisory model exists but can only escalate, never allow.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35 seconds. Three ways in: the MCP proxy that wraps every stdio MCP server, the Claude Code hooks, and our own gated tool server. All call the same Guard.check. Out the other side: a real tool only after ALLOW plus a single-use grant; held calls live in SQLite with a TTL; every decision lands in a hash-chained HMAC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30 seconds. Emphasise zero code changes for the user. The rug-pull defence: if an MCP server changes a tool description after you approved it, the new definition is withheld. Claude Code: we tested real Claude Code in bypassPermissions mode; the hook still blocked rm -rf and reading .env.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P2. 25 seconds. Pick two to explain, not all six: provenance (the reason the phishing send is denied) and single-use grants (why a held call cannot be replayed or swapped). Hand over to P3 for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90 seconds. Switch to the laptop. Follow docs/DEMO_RUNBOOK.md. If the phone does not ring within 20 seconds, say the call is queued, show provenant mail call-status, and move on. Fallback: the launch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40 seconds. Numbers come from python evals/run_eval.py, rerun today. 225 attacks across 15 categories: every one is DENY or REQUIRE_APPROVAL, never ALLOW. 53 legitimate actions all allowed: no false positives. Mention round 2: we red-teamed ourselves and found 41 gaps, fixed them. The categories not shown (taint, classify, failclosed) are also 100%.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20 seconds. Say these before the judges ask. It earns trust. The phone alert you just saw is the mail alert path; the phone approval path for held calls has not been tested with a real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P3. 15 seconds. Close on the one line. Then: 'Happy to take questions.' Q&amp;A bank: team/QA_BANK.md.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645920"/>
            <a:ext cx="106984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PARALLAX 2026  ·  AGENTSHIELD TRACK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64592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Provenant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94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The firewall between AI agents and their tools. Intelligence can propose. Policy decides.</a:t>
            </a:r>
            <a:endParaRPr lang="en-US" sz="2200" dirty="0"/>
          </a:p>
        </p:txBody>
      </p:sp>
      <p:sp>
        <p:nvSpPr>
          <p:cNvPr id="5" name="pill ALLOW"/>
          <p:cNvSpPr/>
          <p:nvPr/>
        </p:nvSpPr>
        <p:spPr>
          <a:xfrm>
            <a:off x="731520" y="512064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 w="19050">
            <a:solidFill>
              <a:srgbClr val="3DDC9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120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DC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1400" dirty="0"/>
          </a:p>
        </p:txBody>
      </p:sp>
      <p:sp>
        <p:nvSpPr>
          <p:cNvPr id="7" name="pill DENY"/>
          <p:cNvSpPr/>
          <p:nvPr/>
        </p:nvSpPr>
        <p:spPr>
          <a:xfrm>
            <a:off x="2926080" y="512064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 w="19050">
            <a:solidFill>
              <a:srgbClr val="FF5D5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5120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D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</a:t>
            </a:r>
            <a:endParaRPr lang="en-US" sz="1400" dirty="0"/>
          </a:p>
        </p:txBody>
      </p:sp>
      <p:sp>
        <p:nvSpPr>
          <p:cNvPr id="9" name="pill REQUIRE APPROVAL"/>
          <p:cNvSpPr/>
          <p:nvPr/>
        </p:nvSpPr>
        <p:spPr>
          <a:xfrm>
            <a:off x="5120640" y="512064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 w="19050">
            <a:solidFill>
              <a:srgbClr val="F5B5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B5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 APPROVAL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  ·  P1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Agents read untrusted text and hold real tools</a:t>
            </a:r>
            <a:endParaRPr lang="en-US" sz="3600" dirty="0"/>
          </a:p>
        </p:txBody>
      </p:sp>
      <p:sp>
        <p:nvSpPr>
          <p:cNvPr id="4" name="problem Inbox"/>
          <p:cNvSpPr/>
          <p:nvPr/>
        </p:nvSpPr>
        <p:spPr>
          <a:xfrm>
            <a:off x="548640" y="1554480"/>
            <a:ext cx="347472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Inbox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An email says: forward the last five invoices to this address. The agent cannot tell an instruction from data.</a:t>
            </a:r>
            <a:endParaRPr lang="en-US" sz="1600" dirty="0"/>
          </a:p>
        </p:txBody>
      </p:sp>
      <p:sp>
        <p:nvSpPr>
          <p:cNvPr id="7" name="problem Web and documents"/>
          <p:cNvSpPr/>
          <p:nvPr/>
        </p:nvSpPr>
        <p:spPr>
          <a:xfrm>
            <a:off x="4297680" y="1554480"/>
            <a:ext cx="347472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Web and documents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3774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page hides an instruction in white text, base64 or zero-width characters.</a:t>
            </a:r>
            <a:endParaRPr lang="en-US" sz="1600" dirty="0"/>
          </a:p>
        </p:txBody>
      </p:sp>
      <p:sp>
        <p:nvSpPr>
          <p:cNvPr id="10" name="problem MCP tools"/>
          <p:cNvSpPr/>
          <p:nvPr/>
        </p:nvSpPr>
        <p:spPr>
          <a:xfrm>
            <a:off x="8046720" y="1554480"/>
            <a:ext cx="347472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783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MCP tools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3774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tool result or a changed tool definition quietly asks for your .env or a shell.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bg2"/>
                </a:solidFill>
              </a:rPr>
              <a:t>Prompt-level defences ask the model to be careful. The model is the thing being attacked.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USE CASE  ·  P1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One phishing email, end to end</a:t>
            </a:r>
            <a:endParaRPr lang="en-US" sz="3600" dirty="0"/>
          </a:p>
        </p:txBody>
      </p:sp>
      <p:sp>
        <p:nvSpPr>
          <p:cNvPr id="4" name="step 1"/>
          <p:cNvSpPr/>
          <p:nvPr/>
        </p:nvSpPr>
        <p:spPr>
          <a:xfrm>
            <a:off x="548640" y="1463040"/>
            <a:ext cx="731520" cy="731520"/>
          </a:xfrm>
          <a:prstGeom prst="ellipse">
            <a:avLst/>
          </a:prstGeom>
          <a:solidFill>
            <a:srgbClr val="141816"/>
          </a:solidFill>
          <a:ln w="25400">
            <a:solidFill>
              <a:srgbClr val="8A95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9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4813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The email arrives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5087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From micros0ft-verify.example. Reply-To elsewhere. A bit.ly link. A hidden line for the AI.</a:t>
            </a:r>
            <a:endParaRPr lang="en-US" sz="1600" dirty="0"/>
          </a:p>
        </p:txBody>
      </p:sp>
      <p:sp>
        <p:nvSpPr>
          <p:cNvPr id="8" name="step 2"/>
          <p:cNvSpPr/>
          <p:nvPr/>
        </p:nvSpPr>
        <p:spPr>
          <a:xfrm>
            <a:off x="548640" y="2633472"/>
            <a:ext cx="731520" cy="731520"/>
          </a:xfrm>
          <a:prstGeom prst="ellipse">
            <a:avLst/>
          </a:prstGeom>
          <a:solidFill>
            <a:srgbClr val="141816"/>
          </a:solidFill>
          <a:ln w="25400">
            <a:solidFill>
              <a:srgbClr val="F5B5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334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B5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The agent obeys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67919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It proposes send_email to the attacker with your invoices. We assume the worst model.</a:t>
            </a:r>
            <a:endParaRPr lang="en-US" sz="1600" dirty="0"/>
          </a:p>
        </p:txBody>
      </p:sp>
      <p:sp>
        <p:nvSpPr>
          <p:cNvPr id="12" name="step 3"/>
          <p:cNvSpPr/>
          <p:nvPr/>
        </p:nvSpPr>
        <p:spPr>
          <a:xfrm>
            <a:off x="548640" y="3803904"/>
            <a:ext cx="731520" cy="731520"/>
          </a:xfrm>
          <a:prstGeom prst="ellipse">
            <a:avLst/>
          </a:prstGeom>
          <a:solidFill>
            <a:srgbClr val="141816"/>
          </a:solidFill>
          <a:ln w="25400">
            <a:solidFill>
              <a:srgbClr val="3DDC9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0390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DC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8221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Provenant decides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3849624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DENY: the destination came from content the agent read, not from you. Nothing is sent.</a:t>
            </a:r>
            <a:endParaRPr lang="en-US" sz="1600" dirty="0"/>
          </a:p>
        </p:txBody>
      </p:sp>
      <p:sp>
        <p:nvSpPr>
          <p:cNvPr id="16" name="step 4"/>
          <p:cNvSpPr/>
          <p:nvPr/>
        </p:nvSpPr>
        <p:spPr>
          <a:xfrm>
            <a:off x="548640" y="4974336"/>
            <a:ext cx="731520" cy="731520"/>
          </a:xfrm>
          <a:prstGeom prst="ellipse">
            <a:avLst/>
          </a:prstGeom>
          <a:solidFill>
            <a:srgbClr val="141816"/>
          </a:solidFill>
          <a:ln w="25400">
            <a:solidFill>
              <a:srgbClr val="3DDC9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97433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DC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926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You get a call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5020056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 phone alert: high-risk email, do not click, verify the sender. No links read aloud.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PRINCIPLE  ·  P2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model is never the security boundary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Every tool call the agent proposes passes one deterministic decision point, written in plain Python. No model call. No findings means DENY.</a:t>
            </a:r>
            <a:endParaRPr lang="en-US" sz="2000" dirty="0"/>
          </a:p>
        </p:txBody>
      </p:sp>
      <p:sp>
        <p:nvSpPr>
          <p:cNvPr id="5" name="decision ALLOW"/>
          <p:cNvSpPr/>
          <p:nvPr/>
        </p:nvSpPr>
        <p:spPr>
          <a:xfrm>
            <a:off x="548640" y="265176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pill ALLOW"/>
          <p:cNvSpPr/>
          <p:nvPr/>
        </p:nvSpPr>
        <p:spPr>
          <a:xfrm>
            <a:off x="822960" y="292608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 w="19050">
            <a:solidFill>
              <a:srgbClr val="3DDC9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DC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Runs once, under a single-use grant bound to that exact call</a:t>
            </a:r>
            <a:endParaRPr lang="en-US" sz="1800" dirty="0"/>
          </a:p>
        </p:txBody>
      </p:sp>
      <p:sp>
        <p:nvSpPr>
          <p:cNvPr id="9" name="decision DENY"/>
          <p:cNvSpPr/>
          <p:nvPr/>
        </p:nvSpPr>
        <p:spPr>
          <a:xfrm>
            <a:off x="4297680" y="265176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pill DENY"/>
          <p:cNvSpPr/>
          <p:nvPr/>
        </p:nvSpPr>
        <p:spPr>
          <a:xfrm>
            <a:off x="4572000" y="292608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 w="19050">
            <a:solidFill>
              <a:srgbClr val="FF5D5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5D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6576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Never reaches the tool. Reasons go back to the agent and the audit log</a:t>
            </a:r>
            <a:endParaRPr lang="en-US" sz="1800" dirty="0"/>
          </a:p>
        </p:txBody>
      </p:sp>
      <p:sp>
        <p:nvSpPr>
          <p:cNvPr id="13" name="decision REQUIRE APPROVAL"/>
          <p:cNvSpPr/>
          <p:nvPr/>
        </p:nvSpPr>
        <p:spPr>
          <a:xfrm>
            <a:off x="8046720" y="265176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pill REQUIRE APPROVAL"/>
          <p:cNvSpPr/>
          <p:nvPr/>
        </p:nvSpPr>
        <p:spPr>
          <a:xfrm>
            <a:off x="8321040" y="292608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 w="19050">
            <a:solidFill>
              <a:srgbClr val="F5B5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B5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 APPROVAL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6576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Held until a person types provenant approve, or answers a verified call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 ·  P2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One gate, every entry point</a:t>
            </a:r>
            <a:endParaRPr lang="en-US" sz="3600" dirty="0"/>
          </a:p>
        </p:txBody>
      </p:sp>
      <p:sp>
        <p:nvSpPr>
          <p:cNvPr id="4" name="arch MCP clients"/>
          <p:cNvSpPr/>
          <p:nvPr/>
        </p:nvSpPr>
        <p:spPr>
          <a:xfrm>
            <a:off x="548640" y="1463040"/>
            <a:ext cx="310896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MCP clients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933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Desktop, Cursor, VS Code</a:t>
            </a:r>
            <a:endParaRPr lang="en-US" sz="1300" dirty="0"/>
          </a:p>
        </p:txBody>
      </p:sp>
      <p:sp>
        <p:nvSpPr>
          <p:cNvPr id="7" name="arch Claude Code"/>
          <p:cNvSpPr/>
          <p:nvPr/>
        </p:nvSpPr>
        <p:spPr>
          <a:xfrm>
            <a:off x="548640" y="2743200"/>
            <a:ext cx="310896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Claude Code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Pre/PostToolUse hooks</a:t>
            </a:r>
            <a:endParaRPr lang="en-US" sz="1300" dirty="0"/>
          </a:p>
        </p:txBody>
      </p:sp>
      <p:sp>
        <p:nvSpPr>
          <p:cNvPr id="10" name="arch Gated tools"/>
          <p:cNvSpPr/>
          <p:nvPr/>
        </p:nvSpPr>
        <p:spPr>
          <a:xfrm>
            <a:off x="548640" y="4023360"/>
            <a:ext cx="310896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Gated tools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5537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provenant serve</a:t>
            </a:r>
            <a:endParaRPr lang="en-US" sz="1300" dirty="0"/>
          </a:p>
        </p:txBody>
      </p:sp>
      <p:sp>
        <p:nvSpPr>
          <p:cNvPr id="13" name="guard"/>
          <p:cNvSpPr/>
          <p:nvPr/>
        </p:nvSpPr>
        <p:spPr>
          <a:xfrm>
            <a:off x="4480560" y="2103120"/>
            <a:ext cx="3200400" cy="2286000"/>
          </a:xfrm>
          <a:prstGeom prst="roundRect">
            <a:avLst>
              <a:gd name="adj" fmla="val 6000"/>
            </a:avLst>
          </a:prstGeom>
          <a:solidFill>
            <a:srgbClr val="141816"/>
          </a:solidFill>
          <a:ln w="31750">
            <a:solidFill>
              <a:srgbClr val="3DDC9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2331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Guard.check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8803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· provenance · injection context · netguard · DLP</a:t>
            </a:r>
            <a:endParaRPr lang="en-US" sz="1500" dirty="0"/>
          </a:p>
        </p:txBody>
      </p:sp>
      <p:sp>
        <p:nvSpPr>
          <p:cNvPr id="16" name="arrow in"/>
          <p:cNvSpPr/>
          <p:nvPr/>
        </p:nvSpPr>
        <p:spPr>
          <a:xfrm>
            <a:off x="3657600" y="1965960"/>
            <a:ext cx="822960" cy="1280160"/>
          </a:xfrm>
          <a:prstGeom prst="line">
            <a:avLst/>
          </a:prstGeom>
          <a:noFill/>
          <a:ln w="19050">
            <a:solidFill>
              <a:srgbClr val="8A958F"/>
            </a:solidFill>
            <a:prstDash val="solid"/>
            <a:tailEnd type="triangle"/>
          </a:ln>
        </p:spPr>
      </p:sp>
      <p:sp>
        <p:nvSpPr>
          <p:cNvPr id="17" name="arrow in"/>
          <p:cNvSpPr/>
          <p:nvPr/>
        </p:nvSpPr>
        <p:spPr>
          <a:xfrm>
            <a:off x="3657600" y="3246120"/>
            <a:ext cx="822960" cy="0"/>
          </a:xfrm>
          <a:prstGeom prst="line">
            <a:avLst/>
          </a:prstGeom>
          <a:noFill/>
          <a:ln w="19050">
            <a:solidFill>
              <a:srgbClr val="8A958F"/>
            </a:solidFill>
            <a:prstDash val="solid"/>
            <a:tailEnd type="triangle"/>
          </a:ln>
        </p:spPr>
      </p:sp>
      <p:sp>
        <p:nvSpPr>
          <p:cNvPr id="18" name="arrow in"/>
          <p:cNvSpPr/>
          <p:nvPr/>
        </p:nvSpPr>
        <p:spPr>
          <a:xfrm>
            <a:off x="3657600" y="4526280"/>
            <a:ext cx="822960" cy="-1280160"/>
          </a:xfrm>
          <a:prstGeom prst="line">
            <a:avLst/>
          </a:prstGeom>
          <a:noFill/>
          <a:ln w="19050">
            <a:solidFill>
              <a:srgbClr val="8A958F"/>
            </a:solidFill>
            <a:prstDash val="solid"/>
            <a:tailEnd type="triangle"/>
          </a:ln>
        </p:spPr>
      </p:sp>
      <p:sp>
        <p:nvSpPr>
          <p:cNvPr id="19" name="arch Real tools"/>
          <p:cNvSpPr/>
          <p:nvPr/>
        </p:nvSpPr>
        <p:spPr>
          <a:xfrm>
            <a:off x="8503920" y="1463040"/>
            <a:ext cx="310896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DDC97"/>
                </a:solidFill>
              </a:rPr>
              <a:t>Real tools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0" y="19933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after ALLOW + grant</a:t>
            </a:r>
            <a:endParaRPr lang="en-US" sz="1300" dirty="0"/>
          </a:p>
        </p:txBody>
      </p:sp>
      <p:sp>
        <p:nvSpPr>
          <p:cNvPr id="22" name="arch Approvals"/>
          <p:cNvSpPr/>
          <p:nvPr/>
        </p:nvSpPr>
        <p:spPr>
          <a:xfrm>
            <a:off x="8503920" y="2743200"/>
            <a:ext cx="310896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5B544"/>
                </a:solidFill>
              </a:rPr>
              <a:t>Approvals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32735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SQLite, TTL, one use</a:t>
            </a:r>
            <a:endParaRPr lang="en-US" sz="1300" dirty="0"/>
          </a:p>
        </p:txBody>
      </p:sp>
      <p:sp>
        <p:nvSpPr>
          <p:cNvPr id="25" name="arch Audit chain"/>
          <p:cNvSpPr/>
          <p:nvPr/>
        </p:nvSpPr>
        <p:spPr>
          <a:xfrm>
            <a:off x="8503920" y="4023360"/>
            <a:ext cx="310896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Audit chain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45537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hash-chained + HMAC</a:t>
            </a:r>
            <a:endParaRPr lang="en-US" sz="1300" dirty="0"/>
          </a:p>
        </p:txBody>
      </p:sp>
      <p:sp>
        <p:nvSpPr>
          <p:cNvPr id="28" name="arrow out"/>
          <p:cNvSpPr/>
          <p:nvPr/>
        </p:nvSpPr>
        <p:spPr>
          <a:xfrm flipV="1">
            <a:off x="7680960" y="3246120"/>
            <a:ext cx="822960" cy="-1280160"/>
          </a:xfrm>
          <a:prstGeom prst="line">
            <a:avLst/>
          </a:prstGeom>
          <a:noFill/>
          <a:ln w="19050">
            <a:solidFill>
              <a:srgbClr val="8A958F"/>
            </a:solidFill>
            <a:prstDash val="solid"/>
            <a:tailEnd type="triangle"/>
          </a:ln>
        </p:spPr>
      </p:sp>
      <p:sp>
        <p:nvSpPr>
          <p:cNvPr id="29" name="arrow out"/>
          <p:cNvSpPr/>
          <p:nvPr/>
        </p:nvSpPr>
        <p:spPr>
          <a:xfrm>
            <a:off x="7680960" y="3246120"/>
            <a:ext cx="822960" cy="0"/>
          </a:xfrm>
          <a:prstGeom prst="line">
            <a:avLst/>
          </a:prstGeom>
          <a:noFill/>
          <a:ln w="19050">
            <a:solidFill>
              <a:srgbClr val="8A958F"/>
            </a:solidFill>
            <a:prstDash val="solid"/>
            <a:tailEnd type="triangle"/>
          </a:ln>
        </p:spPr>
      </p:sp>
      <p:sp>
        <p:nvSpPr>
          <p:cNvPr id="30" name="arrow out"/>
          <p:cNvSpPr/>
          <p:nvPr/>
        </p:nvSpPr>
        <p:spPr>
          <a:xfrm>
            <a:off x="7680960" y="3246120"/>
            <a:ext cx="822960" cy="1280160"/>
          </a:xfrm>
          <a:prstGeom prst="line">
            <a:avLst/>
          </a:prstGeom>
          <a:noFill/>
          <a:ln w="19050">
            <a:solidFill>
              <a:srgbClr val="8A958F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48640" y="5394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bg2"/>
                </a:solidFill>
              </a:rPr>
              <a:t>Tool results flow back through taint + injection scanning, so what the agent reads changes what it may do next.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AND CLAUDE INTEGRATION  ·  P2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Drops into the agents people already use</a:t>
            </a:r>
            <a:endParaRPr lang="en-US" sz="3600" dirty="0"/>
          </a:p>
        </p:txBody>
      </p:sp>
      <p:sp>
        <p:nvSpPr>
          <p:cNvPr id="4" name="integration MCP proxy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MCP proxy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provenant setup wraps each MCP server, with a plan, a backup and a consent prompt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Only allowed tools/call requests reach the server, including ones disguised as notifications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Tool manifests pinned by HMAC: a changed definition (rug pull) is withheld</a:t>
            </a:r>
            <a:endParaRPr lang="en-US" sz="1600" dirty="0"/>
          </a:p>
        </p:txBody>
      </p:sp>
      <p:sp>
        <p:nvSpPr>
          <p:cNvPr id="7" name="integration Claude Code hook"/>
          <p:cNvSpPr/>
          <p:nvPr/>
        </p:nvSpPr>
        <p:spPr>
          <a:xfrm>
            <a:off x="6217920" y="1463040"/>
            <a:ext cx="539496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Claude Code hook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33172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PreToolUse: DENY blocks, REQUIRE_APPROVAL becomes Claude's own ask prompt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PostToolUse: results feed taint and injection tracking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Held real Claude Code back from rm -rf ./* and cat .env, even in bypassPermissions mode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6235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One line to install, provenant rollback to undo. Status reports a client as connected only after real audit traffic.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GATE CHECKS  ·  P2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Defense in depth, all deterministic</a:t>
            </a:r>
            <a:endParaRPr lang="en-US" sz="3600" dirty="0"/>
          </a:p>
        </p:txBody>
      </p:sp>
      <p:sp>
        <p:nvSpPr>
          <p:cNvPr id="4" name="check Provenance"/>
          <p:cNvSpPr/>
          <p:nvPr/>
        </p:nvSpPr>
        <p:spPr>
          <a:xfrm>
            <a:off x="548640" y="146304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Provenance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 destination copied from content the agent read cannot receive data</a:t>
            </a:r>
            <a:endParaRPr lang="en-US" sz="1600" dirty="0"/>
          </a:p>
        </p:txBody>
      </p:sp>
      <p:sp>
        <p:nvSpPr>
          <p:cNvPr id="7" name="check Injection context"/>
          <p:cNvSpPr/>
          <p:nvPr/>
        </p:nvSpPr>
        <p:spPr>
          <a:xfrm>
            <a:off x="4297680" y="146304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Injection context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402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After reading injected text, every side effect needs a human</a:t>
            </a:r>
            <a:endParaRPr lang="en-US" sz="1600" dirty="0"/>
          </a:p>
        </p:txBody>
      </p:sp>
      <p:sp>
        <p:nvSpPr>
          <p:cNvPr id="10" name="check Shell and paths"/>
          <p:cNvSpPr/>
          <p:nvPr/>
        </p:nvSpPr>
        <p:spPr>
          <a:xfrm>
            <a:off x="8046720" y="146304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Shell and paths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2402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Root deletes, pipe-to-shell, workspace escape, credential files</a:t>
            </a:r>
            <a:endParaRPr lang="en-US" sz="1600" dirty="0"/>
          </a:p>
        </p:txBody>
      </p:sp>
      <p:sp>
        <p:nvSpPr>
          <p:cNvPr id="13" name="check Network"/>
          <p:cNvSpPr/>
          <p:nvPr/>
        </p:nvSpPr>
        <p:spPr>
          <a:xfrm>
            <a:off x="548640" y="370332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31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Network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480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Private, metadata and encoded IPs; resolve once and pin; recheck redirects</a:t>
            </a:r>
            <a:endParaRPr lang="en-US" sz="1600" dirty="0"/>
          </a:p>
        </p:txBody>
      </p:sp>
      <p:sp>
        <p:nvSpPr>
          <p:cNvPr id="16" name="check Single-use grants"/>
          <p:cNvSpPr/>
          <p:nvPr/>
        </p:nvSpPr>
        <p:spPr>
          <a:xfrm>
            <a:off x="4297680" y="370332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3931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Single-use grants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480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Bound to the exact call. No replay, no swapped arguments</a:t>
            </a:r>
            <a:endParaRPr lang="en-US" sz="1600" dirty="0"/>
          </a:p>
        </p:txBody>
      </p:sp>
      <p:sp>
        <p:nvSpPr>
          <p:cNvPr id="19" name="check Human approval"/>
          <p:cNvSpPr/>
          <p:nvPr/>
        </p:nvSpPr>
        <p:spPr>
          <a:xfrm>
            <a:off x="8046720" y="3703320"/>
            <a:ext cx="3474720" cy="201168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3931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Human approval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480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Terminal-only approve; phone code checked by HMAC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 ·  P3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Live: a fake phish, a blocked send, a real call</a:t>
            </a:r>
            <a:endParaRPr lang="en-US" sz="3600" dirty="0"/>
          </a:p>
        </p:txBody>
      </p:sp>
      <p:sp>
        <p:nvSpPr>
          <p:cNvPr id="4" name="demo 0"/>
          <p:cNvSpPr/>
          <p:nvPr/>
        </p:nvSpPr>
        <p:spPr>
          <a:xfrm>
            <a:off x="548640" y="146304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provenant mail demo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7099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Scanner: HIGH, 7 reasons. send_email to the attacker: DENY</a:t>
            </a:r>
            <a:endParaRPr lang="en-US" sz="1700" dirty="0"/>
          </a:p>
        </p:txBody>
      </p:sp>
      <p:sp>
        <p:nvSpPr>
          <p:cNvPr id="7" name="demo 1"/>
          <p:cNvSpPr/>
          <p:nvPr/>
        </p:nvSpPr>
        <p:spPr>
          <a:xfrm>
            <a:off x="548640" y="260604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880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Operations console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28529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The run appears under Demo scenarios, labelled DEMO, not counted as live</a:t>
            </a:r>
            <a:endParaRPr lang="en-US" sz="1700" dirty="0"/>
          </a:p>
        </p:txBody>
      </p:sp>
      <p:sp>
        <p:nvSpPr>
          <p:cNvPr id="10" name="demo 2"/>
          <p:cNvSpPr/>
          <p:nvPr/>
        </p:nvSpPr>
        <p:spPr>
          <a:xfrm>
            <a:off x="548640" y="374904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023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provenant mail demo --call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9959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The phone on stage rings: a labelled Provenant alert about the fake email</a:t>
            </a:r>
            <a:endParaRPr lang="en-US" sz="1700" dirty="0"/>
          </a:p>
        </p:txBody>
      </p:sp>
      <p:sp>
        <p:nvSpPr>
          <p:cNvPr id="13" name="demo 3"/>
          <p:cNvSpPr/>
          <p:nvPr/>
        </p:nvSpPr>
        <p:spPr>
          <a:xfrm>
            <a:off x="548640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provenant check Bash "rm -rf ~"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51389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The same engine Claude Code uses says DENY, with reasons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Every domain is a reserved .example domain. Nothing is emailed. The call is placed only with --call and a yes.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  ·  P3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Measured, regenerated from code</a:t>
            </a:r>
            <a:endParaRPr lang="en-US" sz="3600" dirty="0"/>
          </a:p>
        </p:txBody>
      </p:sp>
      <p:sp>
        <p:nvSpPr>
          <p:cNvPr id="4" name="stat attacks contained"/>
          <p:cNvSpPr/>
          <p:nvPr/>
        </p:nvSpPr>
        <p:spPr>
          <a:xfrm>
            <a:off x="548640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225/225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attacks contained</a:t>
            </a:r>
            <a:endParaRPr lang="en-US" sz="1400" dirty="0"/>
          </a:p>
        </p:txBody>
      </p:sp>
      <p:sp>
        <p:nvSpPr>
          <p:cNvPr id="7" name="stat legitimate actions allowed"/>
          <p:cNvSpPr/>
          <p:nvPr/>
        </p:nvSpPr>
        <p:spPr>
          <a:xfrm>
            <a:off x="3364992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3592" y="16459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53/53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legitimate actions allowed</a:t>
            </a:r>
            <a:endParaRPr lang="en-US" sz="1400" dirty="0"/>
          </a:p>
        </p:txBody>
      </p:sp>
      <p:sp>
        <p:nvSpPr>
          <p:cNvPr id="10" name="stat live proxy checks"/>
          <p:cNvSpPr/>
          <p:nvPr/>
        </p:nvSpPr>
        <p:spPr>
          <a:xfrm>
            <a:off x="6181344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9944" y="16459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9/9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live proxy checks</a:t>
            </a:r>
            <a:endParaRPr lang="en-US" sz="1400" dirty="0"/>
          </a:p>
        </p:txBody>
      </p:sp>
      <p:sp>
        <p:nvSpPr>
          <p:cNvPr id="13" name="stat policy decision p50"/>
          <p:cNvSpPr/>
          <p:nvPr/>
        </p:nvSpPr>
        <p:spPr>
          <a:xfrm>
            <a:off x="8997696" y="146304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6296" y="16459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9EF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0.16 ms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policy decision p50</a:t>
            </a:r>
            <a:endParaRPr lang="en-US" sz="1400" dirty="0"/>
          </a:p>
        </p:txBody>
      </p:sp>
      <p:graphicFrame>
        <p:nvGraphicFramePr>
          <p:cNvPr id="16" name="category chart" descr=""/>
          <p:cNvGraphicFramePr/>
          <p:nvPr/>
        </p:nvGraphicFramePr>
        <p:xfrm>
          <a:off x="548640" y="3383280"/>
          <a:ext cx="69494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7863840" y="3474720"/>
            <a:ext cx="3749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235 unit tests pass, including a wheel built and installed in a clean venv.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Attacks found 41 gaps in our own v8 guard in round 2. All fixed, all now regression cases.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i="1" dirty="0">
                <a:solidFill>
                  <a:srgbClr val="8A958F"/>
                </a:solidFill>
              </a:rPr>
              <a:t>Passing these cases is evidence for these cases, not proof of no bypass.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  ·  P3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What we have not proven yet</a:t>
            </a:r>
            <a:endParaRPr lang="en-US" sz="3600" dirty="0"/>
          </a:p>
        </p:txBody>
      </p:sp>
      <p:sp>
        <p:nvSpPr>
          <p:cNvPr id="4" name="limit Paraphrase"/>
          <p:cNvSpPr/>
          <p:nvPr/>
        </p:nvSpPr>
        <p:spPr>
          <a:xfrm>
            <a:off x="548640" y="146304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Paraphrase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Provenance is value-based. A reworded destination can slip that one rule; the others still apply.</a:t>
            </a:r>
            <a:endParaRPr lang="en-US" sz="1600" dirty="0"/>
          </a:p>
        </p:txBody>
      </p:sp>
      <p:sp>
        <p:nvSpPr>
          <p:cNvPr id="7" name="limit Shell"/>
          <p:cNvSpPr/>
          <p:nvPr/>
        </p:nvSpPr>
        <p:spPr>
          <a:xfrm>
            <a:off x="6172200" y="146304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Shell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2402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Pattern-based. Writing a script, then running it, is judged by the run command.</a:t>
            </a:r>
            <a:endParaRPr lang="en-US" sz="1600" dirty="0"/>
          </a:p>
        </p:txBody>
      </p:sp>
      <p:sp>
        <p:nvSpPr>
          <p:cNvPr id="10" name="limit Remote MCP"/>
          <p:cNvSpPr/>
          <p:nvPr/>
        </p:nvSpPr>
        <p:spPr>
          <a:xfrm>
            <a:off x="548640" y="365760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86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Remote MCP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434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Only stdio MCP servers are proxied today, not HTTP ones.</a:t>
            </a:r>
            <a:endParaRPr lang="en-US" sz="1600" dirty="0"/>
          </a:p>
        </p:txBody>
      </p:sp>
      <p:sp>
        <p:nvSpPr>
          <p:cNvPr id="13" name="limit Field tests"/>
          <p:cNvSpPr/>
          <p:nvPr/>
        </p:nvSpPr>
        <p:spPr>
          <a:xfrm>
            <a:off x="6172200" y="365760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886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Field tests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4348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Phone approval and the Windows one-liner have not run on real infrastructure yet.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58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64592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Assume the model will obey anything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and keep the world safe anyway. Provenant is open, local-first and installs in one line.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https://raw.githubusercontent.com/MithunSidhaarth/provenant/main/install.ps1 | iex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github.com/MithunSidhaarth/provenant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venant Console">
  <a:themeElements>
    <a:clrScheme name="Provenant Console">
      <a:dk1>
        <a:srgbClr val="0B0D0C"/>
      </a:dk1>
      <a:lt1>
        <a:srgbClr val="E9EFEC"/>
      </a:lt1>
      <a:dk2>
        <a:srgbClr val="141816"/>
      </a:dk2>
      <a:lt2>
        <a:srgbClr val="8A958F"/>
      </a:lt2>
      <a:accent1>
        <a:srgbClr val="3DDC97"/>
      </a:accent1>
      <a:accent2>
        <a:srgbClr val="FF5D5D"/>
      </a:accent2>
      <a:accent3>
        <a:srgbClr val="F5B544"/>
      </a:accent3>
      <a:accent4>
        <a:srgbClr val="1E2522"/>
      </a:accent4>
      <a:accent5>
        <a:srgbClr val="2A332F"/>
      </a:accent5>
      <a:accent6>
        <a:srgbClr val="6FE7B4"/>
      </a:accent6>
      <a:hlink>
        <a:srgbClr val="3DDC97"/>
      </a:hlink>
      <a:folHlink>
        <a:srgbClr val="6FE7B4"/>
      </a:folHlink>
    </a:clrScheme>
    <a:fontScheme name="Provenant Consol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Provenant: the firewall for AI agents</dc:title>
  <dc:subject>PptxGenJS Presentation</dc:subject>
  <dc:creator>Team Provenant</dc:creator>
  <cp:lastModifiedBy>Team Provenant</cp:lastModifiedBy>
  <cp:revision>1</cp:revision>
  <dcterms:created xsi:type="dcterms:W3CDTF">2026-10-30T22:57:34Z</dcterms:created>
  <dcterms:modified xsi:type="dcterms:W3CDTF">2026-10-30T22:57:34Z</dcterms:modified>
</cp:coreProperties>
</file>